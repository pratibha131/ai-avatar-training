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nva Sans" charset="1" panose="020B0503030501040103"/>
      <p:regular r:id="rId11"/>
    </p:embeddedFont>
    <p:embeddedFont>
      <p:font typeface="Canva Sans Bold" charset="1" panose="020B08030305010401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Relationship Id="rId7" Target="../media/image16.jpe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jpeg" Type="http://schemas.openxmlformats.org/officeDocument/2006/relationships/image"/><Relationship Id="rId4" Target="https://share.philips.com/sites/AIInnovationNA/SitePages/Training.aspx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92" y="0"/>
            <a:ext cx="18276008" cy="1309467"/>
            <a:chOff x="0" y="0"/>
            <a:chExt cx="4813434" cy="344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3434" cy="344880"/>
            </a:xfrm>
            <a:custGeom>
              <a:avLst/>
              <a:gdLst/>
              <a:ahLst/>
              <a:cxnLst/>
              <a:rect r="r" b="b" t="t" l="l"/>
              <a:pathLst>
                <a:path h="344880" w="4813434">
                  <a:moveTo>
                    <a:pt x="0" y="0"/>
                  </a:moveTo>
                  <a:lnTo>
                    <a:pt x="4813434" y="0"/>
                  </a:lnTo>
                  <a:lnTo>
                    <a:pt x="4813434" y="344880"/>
                  </a:lnTo>
                  <a:lnTo>
                    <a:pt x="0" y="344880"/>
                  </a:lnTo>
                  <a:close/>
                </a:path>
              </a:pathLst>
            </a:custGeom>
            <a:solidFill>
              <a:srgbClr val="1357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3434" cy="373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0281" y="286887"/>
            <a:ext cx="2690754" cy="735693"/>
          </a:xfrm>
          <a:custGeom>
            <a:avLst/>
            <a:gdLst/>
            <a:ahLst/>
            <a:cxnLst/>
            <a:rect r="r" b="b" t="t" l="l"/>
            <a:pathLst>
              <a:path h="735693" w="2690754">
                <a:moveTo>
                  <a:pt x="0" y="0"/>
                </a:moveTo>
                <a:lnTo>
                  <a:pt x="2690754" y="0"/>
                </a:lnTo>
                <a:lnTo>
                  <a:pt x="2690754" y="735693"/>
                </a:lnTo>
                <a:lnTo>
                  <a:pt x="0" y="735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5318" r="0" b="-13042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92" y="1309467"/>
            <a:ext cx="6869797" cy="8977533"/>
          </a:xfrm>
          <a:custGeom>
            <a:avLst/>
            <a:gdLst/>
            <a:ahLst/>
            <a:cxnLst/>
            <a:rect r="r" b="b" t="t" l="l"/>
            <a:pathLst>
              <a:path h="8977533" w="6869797">
                <a:moveTo>
                  <a:pt x="0" y="0"/>
                </a:moveTo>
                <a:lnTo>
                  <a:pt x="6869797" y="0"/>
                </a:lnTo>
                <a:lnTo>
                  <a:pt x="6869797" y="8977533"/>
                </a:lnTo>
                <a:lnTo>
                  <a:pt x="0" y="8977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579" t="0" r="-5700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55679" y="3028950"/>
            <a:ext cx="8631410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Artificial Intelligence (AI) is technology that enables machines and software to learn, think, analyze, and make decisions like humans.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helps people understand information, generate ideas, automate routine work, and make everyday tasks easier.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Instead of replacing people, AI helps us become more productive.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53299" y="336583"/>
            <a:ext cx="2467579" cy="56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 GURU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55679" y="1985842"/>
            <a:ext cx="86314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Artificial Intelligence (AI) ?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74418" y="273822"/>
            <a:ext cx="553916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92" y="0"/>
            <a:ext cx="18276008" cy="1309467"/>
            <a:chOff x="0" y="0"/>
            <a:chExt cx="4813434" cy="344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3434" cy="344880"/>
            </a:xfrm>
            <a:custGeom>
              <a:avLst/>
              <a:gdLst/>
              <a:ahLst/>
              <a:cxnLst/>
              <a:rect r="r" b="b" t="t" l="l"/>
              <a:pathLst>
                <a:path h="344880" w="4813434">
                  <a:moveTo>
                    <a:pt x="0" y="0"/>
                  </a:moveTo>
                  <a:lnTo>
                    <a:pt x="4813434" y="0"/>
                  </a:lnTo>
                  <a:lnTo>
                    <a:pt x="4813434" y="344880"/>
                  </a:lnTo>
                  <a:lnTo>
                    <a:pt x="0" y="344880"/>
                  </a:lnTo>
                  <a:close/>
                </a:path>
              </a:pathLst>
            </a:custGeom>
            <a:solidFill>
              <a:srgbClr val="1357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3434" cy="373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0281" y="286887"/>
            <a:ext cx="2690754" cy="735693"/>
          </a:xfrm>
          <a:custGeom>
            <a:avLst/>
            <a:gdLst/>
            <a:ahLst/>
            <a:cxnLst/>
            <a:rect r="r" b="b" t="t" l="l"/>
            <a:pathLst>
              <a:path h="735693" w="2690754">
                <a:moveTo>
                  <a:pt x="0" y="0"/>
                </a:moveTo>
                <a:lnTo>
                  <a:pt x="2690754" y="0"/>
                </a:lnTo>
                <a:lnTo>
                  <a:pt x="2690754" y="735693"/>
                </a:lnTo>
                <a:lnTo>
                  <a:pt x="0" y="735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5318" r="0" b="-13042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6117" y="2655628"/>
            <a:ext cx="8212315" cy="1348356"/>
          </a:xfrm>
          <a:custGeom>
            <a:avLst/>
            <a:gdLst/>
            <a:ahLst/>
            <a:cxnLst/>
            <a:rect r="r" b="b" t="t" l="l"/>
            <a:pathLst>
              <a:path h="1348356" w="8212315">
                <a:moveTo>
                  <a:pt x="0" y="0"/>
                </a:moveTo>
                <a:lnTo>
                  <a:pt x="8212314" y="0"/>
                </a:lnTo>
                <a:lnTo>
                  <a:pt x="8212314" y="1348356"/>
                </a:lnTo>
                <a:lnTo>
                  <a:pt x="0" y="1348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30550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13201" y="2617372"/>
            <a:ext cx="7961734" cy="1349051"/>
          </a:xfrm>
          <a:custGeom>
            <a:avLst/>
            <a:gdLst/>
            <a:ahLst/>
            <a:cxnLst/>
            <a:rect r="r" b="b" t="t" l="l"/>
            <a:pathLst>
              <a:path h="1349051" w="7961734">
                <a:moveTo>
                  <a:pt x="0" y="0"/>
                </a:moveTo>
                <a:lnTo>
                  <a:pt x="7961734" y="0"/>
                </a:lnTo>
                <a:lnTo>
                  <a:pt x="7961734" y="1349051"/>
                </a:lnTo>
                <a:lnTo>
                  <a:pt x="0" y="1349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5336" r="0" b="-19758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20361" y="4003984"/>
            <a:ext cx="8432172" cy="1475411"/>
          </a:xfrm>
          <a:custGeom>
            <a:avLst/>
            <a:gdLst/>
            <a:ahLst/>
            <a:cxnLst/>
            <a:rect r="r" b="b" t="t" l="l"/>
            <a:pathLst>
              <a:path h="1475411" w="8432172">
                <a:moveTo>
                  <a:pt x="0" y="0"/>
                </a:moveTo>
                <a:lnTo>
                  <a:pt x="8432172" y="0"/>
                </a:lnTo>
                <a:lnTo>
                  <a:pt x="8432172" y="1475411"/>
                </a:lnTo>
                <a:lnTo>
                  <a:pt x="0" y="14754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14" t="-191273" r="0" b="-9042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88857" y="7344765"/>
            <a:ext cx="3733417" cy="25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  <a:spcBef>
                <a:spcPct val="0"/>
              </a:spcBef>
            </a:pPr>
            <a:r>
              <a:rPr lang="en-US" b="true" sz="154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</a:t>
            </a:r>
            <a:r>
              <a:rPr lang="en-US" b="true" sz="154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ovide a Clear Prompt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336275" y="6434825"/>
            <a:ext cx="12017024" cy="3639610"/>
          </a:xfrm>
          <a:custGeom>
            <a:avLst/>
            <a:gdLst/>
            <a:ahLst/>
            <a:cxnLst/>
            <a:rect r="r" b="b" t="t" l="l"/>
            <a:pathLst>
              <a:path h="3639610" w="12017024">
                <a:moveTo>
                  <a:pt x="0" y="0"/>
                </a:moveTo>
                <a:lnTo>
                  <a:pt x="12017024" y="0"/>
                </a:lnTo>
                <a:lnTo>
                  <a:pt x="12017024" y="3639610"/>
                </a:lnTo>
                <a:lnTo>
                  <a:pt x="0" y="363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51" r="0" b="-35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353299" y="336583"/>
            <a:ext cx="2467579" cy="56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 GURU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2927" y="1814342"/>
            <a:ext cx="367930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AI works 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9990" y="3085781"/>
            <a:ext cx="807602" cy="36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  <a:spcBef>
                <a:spcPct val="0"/>
              </a:spcBef>
            </a:pPr>
            <a:r>
              <a:rPr lang="en-US" b="true" sz="21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23801" y="2918444"/>
            <a:ext cx="5396947" cy="74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  <a:spcBef>
                <a:spcPct val="0"/>
              </a:spcBef>
            </a:pPr>
            <a:r>
              <a:rPr lang="en-US" sz="2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learns fr</a:t>
            </a:r>
            <a:r>
              <a:rPr lang="en-US" sz="2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 large amounts of information available across the internet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1567" y="3070939"/>
            <a:ext cx="1170679" cy="36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  <a:spcBef>
                <a:spcPct val="0"/>
              </a:spcBef>
            </a:pPr>
            <a:r>
              <a:rPr lang="en-US" b="true" sz="21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22788" y="2954036"/>
            <a:ext cx="5013955" cy="112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  <a:spcBef>
                <a:spcPct val="0"/>
              </a:spcBef>
            </a:pPr>
            <a:r>
              <a:rPr lang="en-US" sz="2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Algorithms identify</a:t>
            </a:r>
            <a:r>
              <a:rPr lang="en-US" sz="2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patterns and improve over time.</a:t>
            </a:r>
          </a:p>
          <a:p>
            <a:pPr algn="ctr">
              <a:lnSpc>
                <a:spcPts val="3032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003562" y="4471795"/>
            <a:ext cx="1162057" cy="366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1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00514" y="4291805"/>
            <a:ext cx="5471865" cy="112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  <a:spcBef>
                <a:spcPct val="0"/>
              </a:spcBef>
            </a:pPr>
            <a:r>
              <a:rPr lang="en-US" sz="2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predicts, recommends, or</a:t>
            </a:r>
            <a:r>
              <a:rPr lang="en-US" sz="2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automates actions.</a:t>
            </a:r>
          </a:p>
          <a:p>
            <a:pPr algn="ctr">
              <a:lnSpc>
                <a:spcPts val="3032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02927" y="5635360"/>
            <a:ext cx="70137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users need to work with AI?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26111" y="7744409"/>
            <a:ext cx="2286609" cy="53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  <a:spcBef>
                <a:spcPct val="0"/>
              </a:spcBef>
            </a:pPr>
            <a:r>
              <a:rPr lang="en-US" b="true" sz="154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G</a:t>
            </a:r>
            <a:r>
              <a:rPr lang="en-US" b="true" sz="154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enerates a Response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36853" y="6877933"/>
            <a:ext cx="3028766" cy="72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  <a:spcBef>
                <a:spcPct val="0"/>
              </a:spcBef>
            </a:pPr>
            <a:r>
              <a:rPr lang="en-US" b="true" sz="21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</a:t>
            </a:r>
            <a:r>
              <a:rPr lang="en-US" b="true" sz="21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ovide a Clear Prompt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55566" y="7794953"/>
            <a:ext cx="2230143" cy="143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  <a:spcBef>
                <a:spcPct val="0"/>
              </a:spcBef>
            </a:pPr>
            <a:r>
              <a:rPr lang="en-US" sz="2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Describe y</a:t>
            </a:r>
            <a:r>
              <a:rPr lang="en-US" sz="2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question or task in simple and specific language.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92129" y="6859016"/>
            <a:ext cx="2221072" cy="75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b="true" sz="215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Un</a:t>
            </a:r>
            <a:r>
              <a:rPr lang="en-US" b="true" sz="215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derstands the Prompt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95359" y="7794953"/>
            <a:ext cx="2117842" cy="179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  <a:spcBef>
                <a:spcPct val="0"/>
              </a:spcBef>
            </a:pPr>
            <a:r>
              <a:rPr lang="en-US" sz="20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reads y</a:t>
            </a:r>
            <a:r>
              <a:rPr lang="en-US" sz="20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input and analyzes it using trained models and patterns.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87893" y="6849571"/>
            <a:ext cx="2400466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b="true" sz="215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5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</a:t>
            </a:r>
            <a:r>
              <a:rPr lang="en-US" b="true" sz="215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</a:t>
            </a:r>
            <a:r>
              <a:rPr lang="en-US" b="true" sz="215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ocesses the Information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1567" y="7734884"/>
            <a:ext cx="2166791" cy="215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  <a:spcBef>
                <a:spcPct val="0"/>
              </a:spcBef>
            </a:pPr>
            <a:r>
              <a:rPr lang="en-US" sz="20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identifies </a:t>
            </a:r>
            <a:r>
              <a:rPr lang="en-US" sz="20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relevant context, relationships, and knowledge to understand your request.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9883" y="6849571"/>
            <a:ext cx="2286609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b="true" sz="215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G</a:t>
            </a:r>
            <a:r>
              <a:rPr lang="en-US" b="true" sz="215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enerates a Response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98008" y="7734884"/>
            <a:ext cx="2123706" cy="215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  <a:spcBef>
                <a:spcPct val="0"/>
              </a:spcBef>
            </a:pPr>
            <a:r>
              <a:rPr lang="en-US" sz="20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its analysis, AI creates a </a:t>
            </a:r>
            <a:r>
              <a:rPr lang="en-US" sz="20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relevant answer, suggestion, or solution.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50907" y="276908"/>
            <a:ext cx="318618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Workflow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92" y="0"/>
            <a:ext cx="18276008" cy="1309467"/>
            <a:chOff x="0" y="0"/>
            <a:chExt cx="4813434" cy="344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3434" cy="344880"/>
            </a:xfrm>
            <a:custGeom>
              <a:avLst/>
              <a:gdLst/>
              <a:ahLst/>
              <a:cxnLst/>
              <a:rect r="r" b="b" t="t" l="l"/>
              <a:pathLst>
                <a:path h="344880" w="4813434">
                  <a:moveTo>
                    <a:pt x="0" y="0"/>
                  </a:moveTo>
                  <a:lnTo>
                    <a:pt x="4813434" y="0"/>
                  </a:lnTo>
                  <a:lnTo>
                    <a:pt x="4813434" y="344880"/>
                  </a:lnTo>
                  <a:lnTo>
                    <a:pt x="0" y="344880"/>
                  </a:lnTo>
                  <a:close/>
                </a:path>
              </a:pathLst>
            </a:custGeom>
            <a:solidFill>
              <a:srgbClr val="1357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3434" cy="373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0281" y="286887"/>
            <a:ext cx="2690754" cy="735693"/>
          </a:xfrm>
          <a:custGeom>
            <a:avLst/>
            <a:gdLst/>
            <a:ahLst/>
            <a:cxnLst/>
            <a:rect r="r" b="b" t="t" l="l"/>
            <a:pathLst>
              <a:path h="735693" w="2690754">
                <a:moveTo>
                  <a:pt x="0" y="0"/>
                </a:moveTo>
                <a:lnTo>
                  <a:pt x="2690754" y="0"/>
                </a:lnTo>
                <a:lnTo>
                  <a:pt x="2690754" y="735693"/>
                </a:lnTo>
                <a:lnTo>
                  <a:pt x="0" y="735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5318" r="0" b="-13042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21703" y="7636785"/>
            <a:ext cx="16437597" cy="2450517"/>
            <a:chOff x="0" y="0"/>
            <a:chExt cx="4329244" cy="645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29243" cy="645404"/>
            </a:xfrm>
            <a:custGeom>
              <a:avLst/>
              <a:gdLst/>
              <a:ahLst/>
              <a:cxnLst/>
              <a:rect r="r" b="b" t="t" l="l"/>
              <a:pathLst>
                <a:path h="645404" w="4329243">
                  <a:moveTo>
                    <a:pt x="27317" y="0"/>
                  </a:moveTo>
                  <a:lnTo>
                    <a:pt x="4301926" y="0"/>
                  </a:lnTo>
                  <a:cubicBezTo>
                    <a:pt x="4309171" y="0"/>
                    <a:pt x="4316119" y="2878"/>
                    <a:pt x="4321242" y="8001"/>
                  </a:cubicBezTo>
                  <a:cubicBezTo>
                    <a:pt x="4326365" y="13124"/>
                    <a:pt x="4329243" y="20072"/>
                    <a:pt x="4329243" y="27317"/>
                  </a:cubicBezTo>
                  <a:lnTo>
                    <a:pt x="4329243" y="618086"/>
                  </a:lnTo>
                  <a:cubicBezTo>
                    <a:pt x="4329243" y="625331"/>
                    <a:pt x="4326365" y="632280"/>
                    <a:pt x="4321242" y="637403"/>
                  </a:cubicBezTo>
                  <a:cubicBezTo>
                    <a:pt x="4316119" y="642526"/>
                    <a:pt x="4309171" y="645404"/>
                    <a:pt x="4301926" y="645404"/>
                  </a:cubicBezTo>
                  <a:lnTo>
                    <a:pt x="27317" y="645404"/>
                  </a:lnTo>
                  <a:cubicBezTo>
                    <a:pt x="20072" y="645404"/>
                    <a:pt x="13124" y="642526"/>
                    <a:pt x="8001" y="637403"/>
                  </a:cubicBezTo>
                  <a:cubicBezTo>
                    <a:pt x="2878" y="632280"/>
                    <a:pt x="0" y="625331"/>
                    <a:pt x="0" y="618086"/>
                  </a:cubicBezTo>
                  <a:lnTo>
                    <a:pt x="0" y="27317"/>
                  </a:lnTo>
                  <a:cubicBezTo>
                    <a:pt x="0" y="20072"/>
                    <a:pt x="2878" y="13124"/>
                    <a:pt x="8001" y="8001"/>
                  </a:cubicBezTo>
                  <a:cubicBezTo>
                    <a:pt x="13124" y="2878"/>
                    <a:pt x="20072" y="0"/>
                    <a:pt x="27317" y="0"/>
                  </a:cubicBezTo>
                  <a:close/>
                </a:path>
              </a:pathLst>
            </a:custGeom>
            <a:solidFill>
              <a:srgbClr val="FFDE59">
                <a:alpha val="6078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329244" cy="673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000763" y="1925535"/>
            <a:ext cx="1376877" cy="2091940"/>
          </a:xfrm>
          <a:custGeom>
            <a:avLst/>
            <a:gdLst/>
            <a:ahLst/>
            <a:cxnLst/>
            <a:rect r="r" b="b" t="t" l="l"/>
            <a:pathLst>
              <a:path h="2091940" w="1376877">
                <a:moveTo>
                  <a:pt x="0" y="0"/>
                </a:moveTo>
                <a:lnTo>
                  <a:pt x="1376877" y="0"/>
                </a:lnTo>
                <a:lnTo>
                  <a:pt x="1376877" y="2091941"/>
                </a:lnTo>
                <a:lnTo>
                  <a:pt x="0" y="2091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81142" y="1900941"/>
            <a:ext cx="1376877" cy="2091940"/>
          </a:xfrm>
          <a:custGeom>
            <a:avLst/>
            <a:gdLst/>
            <a:ahLst/>
            <a:cxnLst/>
            <a:rect r="r" b="b" t="t" l="l"/>
            <a:pathLst>
              <a:path h="2091940" w="1376877">
                <a:moveTo>
                  <a:pt x="0" y="0"/>
                </a:moveTo>
                <a:lnTo>
                  <a:pt x="1376877" y="0"/>
                </a:lnTo>
                <a:lnTo>
                  <a:pt x="1376877" y="2091940"/>
                </a:lnTo>
                <a:lnTo>
                  <a:pt x="0" y="2091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560991" y="1900941"/>
            <a:ext cx="1376877" cy="2091940"/>
          </a:xfrm>
          <a:custGeom>
            <a:avLst/>
            <a:gdLst/>
            <a:ahLst/>
            <a:cxnLst/>
            <a:rect r="r" b="b" t="t" l="l"/>
            <a:pathLst>
              <a:path h="2091940" w="1376877">
                <a:moveTo>
                  <a:pt x="0" y="0"/>
                </a:moveTo>
                <a:lnTo>
                  <a:pt x="1376877" y="0"/>
                </a:lnTo>
                <a:lnTo>
                  <a:pt x="1376877" y="2091940"/>
                </a:lnTo>
                <a:lnTo>
                  <a:pt x="0" y="20919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2332044" y="4169876"/>
            <a:ext cx="12771820" cy="0"/>
          </a:xfrm>
          <a:prstGeom prst="line">
            <a:avLst/>
          </a:prstGeom>
          <a:ln cap="flat" w="38100">
            <a:solidFill>
              <a:srgbClr val="035EC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13053214" y="3916836"/>
            <a:ext cx="392431" cy="3924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5EC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353299" y="336583"/>
            <a:ext cx="2467579" cy="56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 GURU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32600" y="273822"/>
            <a:ext cx="418983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Evolution of AI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29052" y="4404612"/>
            <a:ext cx="980844" cy="33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  <a:spcBef>
                <a:spcPct val="0"/>
              </a:spcBef>
            </a:pPr>
            <a:r>
              <a:rPr lang="en-US" b="true" sz="19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BASIC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74614" y="4404612"/>
            <a:ext cx="2189935" cy="33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  <a:spcBef>
                <a:spcPct val="0"/>
              </a:spcBef>
            </a:pPr>
            <a:r>
              <a:rPr lang="en-US" b="true" sz="19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INTERMEDIATE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01575" y="4404612"/>
            <a:ext cx="1295710" cy="33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  <a:spcBef>
                <a:spcPct val="0"/>
              </a:spcBef>
            </a:pPr>
            <a:r>
              <a:rPr lang="en-US" b="true" sz="19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93336" y="4833142"/>
            <a:ext cx="2082874" cy="136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19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Meeting scheduling and summaries</a:t>
            </a:r>
          </a:p>
          <a:p>
            <a:pPr algn="ctr">
              <a:lnSpc>
                <a:spcPts val="2758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481675" y="4833142"/>
            <a:ext cx="2082874" cy="136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19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Automating approvals (leave, finance)</a:t>
            </a:r>
          </a:p>
          <a:p>
            <a:pPr algn="ctr">
              <a:lnSpc>
                <a:spcPts val="275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964845" y="4833142"/>
            <a:ext cx="4569171" cy="136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19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Get AI-powered suggestions to support better decisions, help doctors detect diseases faster with AI</a:t>
            </a:r>
          </a:p>
          <a:p>
            <a:pPr algn="ctr">
              <a:lnSpc>
                <a:spcPts val="2758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6494420"/>
            <a:ext cx="1319343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for Business &amp; Enterprise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2839" y="7770135"/>
            <a:ext cx="7386742" cy="1934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5881" indent="-237941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Automate customer support with AI chat assistants</a:t>
            </a:r>
          </a:p>
          <a:p>
            <a:pPr algn="just" marL="475881" indent="-237941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Analyze business data to find useful insights</a:t>
            </a:r>
          </a:p>
          <a:p>
            <a:pPr algn="just" marL="475881" indent="-237941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smart reports and interactive dashboards</a:t>
            </a:r>
          </a:p>
          <a:p>
            <a:pPr algn="just" marL="475881" indent="-237941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hiring, onboarding, and HR tasks</a:t>
            </a:r>
          </a:p>
          <a:p>
            <a:pPr algn="just" marL="475881" indent="-237941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 instant IT help and troubleshooting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27517" y="7770135"/>
            <a:ext cx="7386742" cy="154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5881" indent="-237941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Automate repetitive business processes</a:t>
            </a:r>
          </a:p>
          <a:p>
            <a:pPr algn="just" marL="475881" indent="-237941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 future trends and business outcomes</a:t>
            </a:r>
          </a:p>
          <a:p>
            <a:pPr algn="just" marL="475881" indent="-237941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Faster email drafting </a:t>
            </a:r>
          </a:p>
          <a:p>
            <a:pPr algn="just" marL="475881" indent="-237941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Recap of the meetings with downloadable forms.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73365" y="3916836"/>
            <a:ext cx="392431" cy="39243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41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492986" y="3916836"/>
            <a:ext cx="392431" cy="39243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92" y="0"/>
            <a:ext cx="18276008" cy="1309467"/>
            <a:chOff x="0" y="0"/>
            <a:chExt cx="4813434" cy="344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3434" cy="344880"/>
            </a:xfrm>
            <a:custGeom>
              <a:avLst/>
              <a:gdLst/>
              <a:ahLst/>
              <a:cxnLst/>
              <a:rect r="r" b="b" t="t" l="l"/>
              <a:pathLst>
                <a:path h="344880" w="4813434">
                  <a:moveTo>
                    <a:pt x="0" y="0"/>
                  </a:moveTo>
                  <a:lnTo>
                    <a:pt x="4813434" y="0"/>
                  </a:lnTo>
                  <a:lnTo>
                    <a:pt x="4813434" y="344880"/>
                  </a:lnTo>
                  <a:lnTo>
                    <a:pt x="0" y="344880"/>
                  </a:lnTo>
                  <a:close/>
                </a:path>
              </a:pathLst>
            </a:custGeom>
            <a:solidFill>
              <a:srgbClr val="1357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3434" cy="373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0281" y="286887"/>
            <a:ext cx="2690754" cy="735693"/>
          </a:xfrm>
          <a:custGeom>
            <a:avLst/>
            <a:gdLst/>
            <a:ahLst/>
            <a:cxnLst/>
            <a:rect r="r" b="b" t="t" l="l"/>
            <a:pathLst>
              <a:path h="735693" w="2690754">
                <a:moveTo>
                  <a:pt x="0" y="0"/>
                </a:moveTo>
                <a:lnTo>
                  <a:pt x="2690754" y="0"/>
                </a:lnTo>
                <a:lnTo>
                  <a:pt x="2690754" y="735693"/>
                </a:lnTo>
                <a:lnTo>
                  <a:pt x="0" y="735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5318" r="0" b="-13042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826" y="3163283"/>
            <a:ext cx="7812534" cy="2948005"/>
          </a:xfrm>
          <a:custGeom>
            <a:avLst/>
            <a:gdLst/>
            <a:ahLst/>
            <a:cxnLst/>
            <a:rect r="r" b="b" t="t" l="l"/>
            <a:pathLst>
              <a:path h="2948005" w="7812534">
                <a:moveTo>
                  <a:pt x="0" y="0"/>
                </a:moveTo>
                <a:lnTo>
                  <a:pt x="7812534" y="0"/>
                </a:lnTo>
                <a:lnTo>
                  <a:pt x="7812534" y="2948004"/>
                </a:lnTo>
                <a:lnTo>
                  <a:pt x="0" y="2948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6301" y="3567486"/>
            <a:ext cx="1034386" cy="927930"/>
          </a:xfrm>
          <a:custGeom>
            <a:avLst/>
            <a:gdLst/>
            <a:ahLst/>
            <a:cxnLst/>
            <a:rect r="r" b="b" t="t" l="l"/>
            <a:pathLst>
              <a:path h="927930" w="1034386">
                <a:moveTo>
                  <a:pt x="0" y="0"/>
                </a:moveTo>
                <a:lnTo>
                  <a:pt x="1034385" y="0"/>
                </a:lnTo>
                <a:lnTo>
                  <a:pt x="1034385" y="927930"/>
                </a:lnTo>
                <a:lnTo>
                  <a:pt x="0" y="9279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9687" t="0" r="-7662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71999" y="3701599"/>
            <a:ext cx="1175563" cy="659704"/>
          </a:xfrm>
          <a:custGeom>
            <a:avLst/>
            <a:gdLst/>
            <a:ahLst/>
            <a:cxnLst/>
            <a:rect r="r" b="b" t="t" l="l"/>
            <a:pathLst>
              <a:path h="659704" w="1175563">
                <a:moveTo>
                  <a:pt x="0" y="0"/>
                </a:moveTo>
                <a:lnTo>
                  <a:pt x="1175563" y="0"/>
                </a:lnTo>
                <a:lnTo>
                  <a:pt x="1175563" y="659704"/>
                </a:lnTo>
                <a:lnTo>
                  <a:pt x="0" y="659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76402" y="3701599"/>
            <a:ext cx="1220520" cy="684933"/>
          </a:xfrm>
          <a:custGeom>
            <a:avLst/>
            <a:gdLst/>
            <a:ahLst/>
            <a:cxnLst/>
            <a:rect r="r" b="b" t="t" l="l"/>
            <a:pathLst>
              <a:path h="684933" w="1220520">
                <a:moveTo>
                  <a:pt x="0" y="0"/>
                </a:moveTo>
                <a:lnTo>
                  <a:pt x="1220521" y="0"/>
                </a:lnTo>
                <a:lnTo>
                  <a:pt x="1220521" y="684933"/>
                </a:lnTo>
                <a:lnTo>
                  <a:pt x="0" y="6849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31012" y="3869065"/>
            <a:ext cx="1239753" cy="350001"/>
          </a:xfrm>
          <a:custGeom>
            <a:avLst/>
            <a:gdLst/>
            <a:ahLst/>
            <a:cxnLst/>
            <a:rect r="r" b="b" t="t" l="l"/>
            <a:pathLst>
              <a:path h="350001" w="1239753">
                <a:moveTo>
                  <a:pt x="0" y="0"/>
                </a:moveTo>
                <a:lnTo>
                  <a:pt x="1239753" y="0"/>
                </a:lnTo>
                <a:lnTo>
                  <a:pt x="1239753" y="350001"/>
                </a:lnTo>
                <a:lnTo>
                  <a:pt x="0" y="3500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5017" t="-5596" r="0" b="-559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353299" y="336583"/>
            <a:ext cx="2467579" cy="56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 GURU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8255" y="1950173"/>
            <a:ext cx="367930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Tools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3861" y="6289360"/>
            <a:ext cx="1806825" cy="45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000000">
                    <a:alpha val="70980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CHATGPT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5569" y="6289360"/>
            <a:ext cx="1691993" cy="44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000000">
                    <a:alpha val="70980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COPILOT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76402" y="6289360"/>
            <a:ext cx="1278173" cy="44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000000">
                    <a:alpha val="70980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GEMINI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47269" y="6289360"/>
            <a:ext cx="1654305" cy="44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000000">
                    <a:alpha val="70980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CLAUDE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2032" y="1983193"/>
            <a:ext cx="77188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 World Use cases &amp; Advantages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102032" y="2861510"/>
            <a:ext cx="6771541" cy="4943541"/>
            <a:chOff x="0" y="0"/>
            <a:chExt cx="1783451" cy="13020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83451" cy="1302003"/>
            </a:xfrm>
            <a:custGeom>
              <a:avLst/>
              <a:gdLst/>
              <a:ahLst/>
              <a:cxnLst/>
              <a:rect r="r" b="b" t="t" l="l"/>
              <a:pathLst>
                <a:path h="1302003" w="1783451">
                  <a:moveTo>
                    <a:pt x="66312" y="0"/>
                  </a:moveTo>
                  <a:lnTo>
                    <a:pt x="1717140" y="0"/>
                  </a:lnTo>
                  <a:cubicBezTo>
                    <a:pt x="1753763" y="0"/>
                    <a:pt x="1783451" y="29689"/>
                    <a:pt x="1783451" y="66312"/>
                  </a:cubicBezTo>
                  <a:lnTo>
                    <a:pt x="1783451" y="1235691"/>
                  </a:lnTo>
                  <a:cubicBezTo>
                    <a:pt x="1783451" y="1272314"/>
                    <a:pt x="1753763" y="1302003"/>
                    <a:pt x="1717140" y="1302003"/>
                  </a:cubicBezTo>
                  <a:lnTo>
                    <a:pt x="66312" y="1302003"/>
                  </a:lnTo>
                  <a:cubicBezTo>
                    <a:pt x="29689" y="1302003"/>
                    <a:pt x="0" y="1272314"/>
                    <a:pt x="0" y="1235691"/>
                  </a:cubicBezTo>
                  <a:lnTo>
                    <a:pt x="0" y="66312"/>
                  </a:lnTo>
                  <a:cubicBezTo>
                    <a:pt x="0" y="29689"/>
                    <a:pt x="29689" y="0"/>
                    <a:pt x="66312" y="0"/>
                  </a:cubicBezTo>
                  <a:close/>
                </a:path>
              </a:pathLst>
            </a:custGeom>
            <a:solidFill>
              <a:srgbClr val="FFDE59">
                <a:alpha val="6078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783451" cy="1330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474744" y="2986868"/>
            <a:ext cx="5841400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Healthcare : </a:t>
            </a: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 diseases earlier , Support faster diagnosis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Support : </a:t>
            </a: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Resolve issues quickly , Automate service requests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Finance: </a:t>
            </a: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 fraud instantly , Analyze financial data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Manufacturing : </a:t>
            </a: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Monitor equipment health , Improve product quality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Saves time and effort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Improves productivity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manual work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better decision-making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6117" y="6940529"/>
            <a:ext cx="2151791" cy="9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b="true" sz="1892">
                <a:solidFill>
                  <a:srgbClr val="494949">
                    <a:alpha val="9372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creation &amp; summarization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551840" y="6934863"/>
            <a:ext cx="2299452" cy="132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b="true" sz="1892">
                <a:solidFill>
                  <a:srgbClr val="494949">
                    <a:alpha val="9372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Productivity &amp; Microsoft integration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4536937" y="6934863"/>
            <a:ext cx="2299452" cy="132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b="true" sz="1892">
                <a:solidFill>
                  <a:srgbClr val="494949">
                    <a:alpha val="9372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&amp; knowledge assistance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6836389" y="6934863"/>
            <a:ext cx="2299452" cy="132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b="true" sz="1892">
                <a:solidFill>
                  <a:srgbClr val="494949">
                    <a:alpha val="9372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 analysis &amp; writing assistance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326187" y="273822"/>
            <a:ext cx="561930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Tools &amp; Use Cases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92" y="0"/>
            <a:ext cx="18276008" cy="1309467"/>
            <a:chOff x="0" y="0"/>
            <a:chExt cx="4813434" cy="344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3434" cy="344880"/>
            </a:xfrm>
            <a:custGeom>
              <a:avLst/>
              <a:gdLst/>
              <a:ahLst/>
              <a:cxnLst/>
              <a:rect r="r" b="b" t="t" l="l"/>
              <a:pathLst>
                <a:path h="344880" w="4813434">
                  <a:moveTo>
                    <a:pt x="0" y="0"/>
                  </a:moveTo>
                  <a:lnTo>
                    <a:pt x="4813434" y="0"/>
                  </a:lnTo>
                  <a:lnTo>
                    <a:pt x="4813434" y="344880"/>
                  </a:lnTo>
                  <a:lnTo>
                    <a:pt x="0" y="344880"/>
                  </a:lnTo>
                  <a:close/>
                </a:path>
              </a:pathLst>
            </a:custGeom>
            <a:solidFill>
              <a:srgbClr val="1357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3434" cy="373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0281" y="286887"/>
            <a:ext cx="2690754" cy="735693"/>
          </a:xfrm>
          <a:custGeom>
            <a:avLst/>
            <a:gdLst/>
            <a:ahLst/>
            <a:cxnLst/>
            <a:rect r="r" b="b" t="t" l="l"/>
            <a:pathLst>
              <a:path h="735693" w="2690754">
                <a:moveTo>
                  <a:pt x="0" y="0"/>
                </a:moveTo>
                <a:lnTo>
                  <a:pt x="2690754" y="0"/>
                </a:lnTo>
                <a:lnTo>
                  <a:pt x="2690754" y="735693"/>
                </a:lnTo>
                <a:lnTo>
                  <a:pt x="0" y="735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5318" r="0" b="-13042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53299" y="336583"/>
            <a:ext cx="2467579" cy="56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 GURU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5835" y="1757702"/>
            <a:ext cx="589612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Continue Your AI Journey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345238" y="1309467"/>
            <a:ext cx="7942762" cy="9219077"/>
          </a:xfrm>
          <a:custGeom>
            <a:avLst/>
            <a:gdLst/>
            <a:ahLst/>
            <a:cxnLst/>
            <a:rect r="r" b="b" t="t" l="l"/>
            <a:pathLst>
              <a:path h="9219077" w="7942762">
                <a:moveTo>
                  <a:pt x="0" y="0"/>
                </a:moveTo>
                <a:lnTo>
                  <a:pt x="7942762" y="0"/>
                </a:lnTo>
                <a:lnTo>
                  <a:pt x="7942762" y="9219077"/>
                </a:lnTo>
                <a:lnTo>
                  <a:pt x="0" y="921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34" t="0" r="-8034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2853002"/>
            <a:ext cx="7900652" cy="3142282"/>
            <a:chOff x="0" y="0"/>
            <a:chExt cx="2080830" cy="8275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0830" cy="827597"/>
            </a:xfrm>
            <a:custGeom>
              <a:avLst/>
              <a:gdLst/>
              <a:ahLst/>
              <a:cxnLst/>
              <a:rect r="r" b="b" t="t" l="l"/>
              <a:pathLst>
                <a:path h="827597" w="2080830">
                  <a:moveTo>
                    <a:pt x="0" y="0"/>
                  </a:moveTo>
                  <a:lnTo>
                    <a:pt x="2080830" y="0"/>
                  </a:lnTo>
                  <a:lnTo>
                    <a:pt x="2080830" y="827597"/>
                  </a:lnTo>
                  <a:lnTo>
                    <a:pt x="0" y="827597"/>
                  </a:lnTo>
                  <a:close/>
                </a:path>
              </a:pathLst>
            </a:custGeom>
            <a:solidFill>
              <a:srgbClr val="A3B5C3">
                <a:alpha val="4274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080830" cy="856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6690609"/>
            <a:ext cx="7900652" cy="3142282"/>
            <a:chOff x="0" y="0"/>
            <a:chExt cx="2080830" cy="8275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0830" cy="827597"/>
            </a:xfrm>
            <a:custGeom>
              <a:avLst/>
              <a:gdLst/>
              <a:ahLst/>
              <a:cxnLst/>
              <a:rect r="r" b="b" t="t" l="l"/>
              <a:pathLst>
                <a:path h="827597" w="2080830">
                  <a:moveTo>
                    <a:pt x="0" y="0"/>
                  </a:moveTo>
                  <a:lnTo>
                    <a:pt x="2080830" y="0"/>
                  </a:lnTo>
                  <a:lnTo>
                    <a:pt x="2080830" y="827597"/>
                  </a:lnTo>
                  <a:lnTo>
                    <a:pt x="0" y="827597"/>
                  </a:lnTo>
                  <a:close/>
                </a:path>
              </a:pathLst>
            </a:custGeom>
            <a:solidFill>
              <a:srgbClr val="A3B5C3">
                <a:alpha val="42745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080830" cy="856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11160" y="2862527"/>
            <a:ext cx="7165038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819" b="true">
                <a:solidFill>
                  <a:srgbClr val="0A60D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Explore </a:t>
            </a:r>
            <a:r>
              <a:rPr lang="en-US" sz="2819" b="true">
                <a:solidFill>
                  <a:srgbClr val="035EC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</a:t>
            </a:r>
            <a:r>
              <a:rPr lang="en-US" sz="2819" b="true">
                <a:solidFill>
                  <a:srgbClr val="DFA3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</a:t>
            </a:r>
            <a:r>
              <a:rPr lang="en-US" sz="2819" b="true">
                <a:solidFill>
                  <a:srgbClr val="E89E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Enterprise </a:t>
            </a:r>
            <a:r>
              <a:rPr lang="en-US" sz="2819" b="true">
                <a:solidFill>
                  <a:srgbClr val="E29A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Portal</a:t>
            </a:r>
          </a:p>
          <a:p>
            <a:pPr algn="l">
              <a:lnSpc>
                <a:spcPts val="3383"/>
              </a:lnSpc>
            </a:pPr>
          </a:p>
          <a:p>
            <a:pPr algn="l" marL="522377" indent="-261188" lvl="1">
              <a:lnSpc>
                <a:spcPts val="2903"/>
              </a:lnSpc>
              <a:buFont typeface="Arial"/>
              <a:buChar char="•"/>
            </a:pPr>
            <a:r>
              <a:rPr lang="en-US" sz="2419">
                <a:solidFill>
                  <a:srgbClr val="484848"/>
                </a:solidFill>
                <a:latin typeface="Canva Sans"/>
                <a:ea typeface="Canva Sans"/>
                <a:cs typeface="Canva Sans"/>
                <a:sym typeface="Canva Sans"/>
              </a:rPr>
              <a:t>Disc</a:t>
            </a:r>
            <a:r>
              <a:rPr lang="en-US" sz="2419">
                <a:solidFill>
                  <a:srgbClr val="484848"/>
                </a:solidFill>
                <a:latin typeface="Canva Sans"/>
                <a:ea typeface="Canva Sans"/>
                <a:cs typeface="Canva Sans"/>
                <a:sym typeface="Canva Sans"/>
              </a:rPr>
              <a:t>over AI tools, learning resources, and best practices.</a:t>
            </a:r>
          </a:p>
          <a:p>
            <a:pPr algn="l" marL="522377" indent="-261188" lvl="1">
              <a:lnSpc>
                <a:spcPts val="2903"/>
              </a:lnSpc>
              <a:buFont typeface="Arial"/>
              <a:buChar char="•"/>
            </a:pPr>
            <a:r>
              <a:rPr lang="en-US" sz="2419">
                <a:solidFill>
                  <a:srgbClr val="484848"/>
                </a:solidFill>
                <a:latin typeface="Canva Sans"/>
                <a:ea typeface="Canva Sans"/>
                <a:cs typeface="Canva Sans"/>
                <a:sym typeface="Canva Sans"/>
              </a:rPr>
              <a:t>Stay updated with the latest AI initiatives and training.</a:t>
            </a:r>
          </a:p>
          <a:p>
            <a:pPr algn="l">
              <a:lnSpc>
                <a:spcPts val="2903"/>
              </a:lnSpc>
            </a:pPr>
          </a:p>
          <a:p>
            <a:pPr algn="l">
              <a:lnSpc>
                <a:spcPts val="2663"/>
              </a:lnSpc>
            </a:pPr>
            <a:r>
              <a:rPr lang="en-US" b="true" sz="2219" u="sng">
                <a:solidFill>
                  <a:srgbClr val="0C54BC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4" tooltip="https://share.philips.com/sites/AIInnovationNA/SitePages/Training.aspx"/>
              </a:rPr>
              <a:t>Explore more on 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6796" y="7182044"/>
            <a:ext cx="6939403" cy="255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b="true" sz="2546" spc="-63">
                <a:solidFill>
                  <a:srgbClr val="C8AA1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</a:t>
            </a:r>
          </a:p>
          <a:p>
            <a:pPr algn="l">
              <a:lnSpc>
                <a:spcPts val="2697"/>
              </a:lnSpc>
            </a:pPr>
          </a:p>
          <a:p>
            <a:pPr algn="l">
              <a:lnSpc>
                <a:spcPts val="2966"/>
              </a:lnSpc>
            </a:pPr>
            <a:r>
              <a:rPr lang="en-US" b="true" sz="2200" spc="-79">
                <a:solidFill>
                  <a:srgbClr val="49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200" spc="-79">
                <a:solidFill>
                  <a:srgbClr val="49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eed Help?</a:t>
            </a:r>
          </a:p>
          <a:p>
            <a:pPr algn="l" marL="475183" indent="-237592" lvl="1">
              <a:lnSpc>
                <a:spcPts val="2966"/>
              </a:lnSpc>
              <a:buFont typeface="Arial"/>
              <a:buChar char="•"/>
            </a:pPr>
            <a:r>
              <a:rPr lang="en-US" sz="2200" spc="-79">
                <a:solidFill>
                  <a:srgbClr val="494949"/>
                </a:solidFill>
                <a:latin typeface="Canva Sans"/>
                <a:ea typeface="Canva Sans"/>
                <a:cs typeface="Canva Sans"/>
                <a:sym typeface="Canva Sans"/>
              </a:rPr>
              <a:t>Request access to internal AI systems.</a:t>
            </a:r>
          </a:p>
          <a:p>
            <a:pPr algn="l" marL="475183" indent="-237592" lvl="1">
              <a:lnSpc>
                <a:spcPts val="2966"/>
              </a:lnSpc>
              <a:buFont typeface="Arial"/>
              <a:buChar char="•"/>
            </a:pPr>
            <a:r>
              <a:rPr lang="en-US" sz="2200" spc="-79">
                <a:solidFill>
                  <a:srgbClr val="494949"/>
                </a:solidFill>
                <a:latin typeface="Canva Sans"/>
                <a:ea typeface="Canva Sans"/>
                <a:cs typeface="Canva Sans"/>
                <a:sym typeface="Canva Sans"/>
              </a:rPr>
              <a:t>Schedule a team deep-dive training session.</a:t>
            </a:r>
          </a:p>
          <a:p>
            <a:pPr algn="l" marL="475183" indent="-237592" lvl="1">
              <a:lnSpc>
                <a:spcPts val="2966"/>
              </a:lnSpc>
              <a:buFont typeface="Arial"/>
              <a:buChar char="•"/>
            </a:pPr>
            <a:r>
              <a:rPr lang="en-US" b="true" sz="2200" spc="-79">
                <a:solidFill>
                  <a:srgbClr val="49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Contact us at: </a:t>
            </a:r>
          </a:p>
          <a:p>
            <a:pPr algn="l">
              <a:lnSpc>
                <a:spcPts val="2968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DAHPPnfJcEU</dc:identifier>
  <dcterms:modified xsi:type="dcterms:W3CDTF">2011-08-01T06:04:30Z</dcterms:modified>
  <cp:revision>1</cp:revision>
  <dc:title>Artificial Intelligence (AI) is technology that enables machines and software to learn, think, analyze, and make decisions like humans.</dc:title>
</cp:coreProperties>
</file>